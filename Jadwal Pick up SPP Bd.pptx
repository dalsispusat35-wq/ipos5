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64" r:id="rId5"/>
    <p:sldId id="270" r:id="rId6"/>
    <p:sldId id="269" r:id="rId7"/>
    <p:sldId id="265" r:id="rId8"/>
    <p:sldId id="271" r:id="rId9"/>
    <p:sldId id="272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954AA-27A8-4FA0-A3EE-FD8CDAEA37F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F8FF9-DAA2-4517-83EE-77215158346B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21" name="TextBox 4"/>
          <p:cNvSpPr txBox="1"/>
          <p:nvPr/>
        </p:nvSpPr>
        <p:spPr>
          <a:xfrm>
            <a:off x="1157590" y="287105"/>
            <a:ext cx="4250317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baseline="0" dirty="0">
                <a:solidFill>
                  <a:schemeClr val="bg1"/>
                </a:solidFill>
                <a:cs typeface="+mn-lt"/>
              </a:rPr>
              <a:t>SPP BANDUNG 40400 2026</a:t>
            </a:r>
            <a:endParaRPr lang="en-US" altLang="en-US" sz="2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29" name="Content Placeholder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745" y="1101254"/>
            <a:ext cx="11919933" cy="5539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21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18" y="1161216"/>
            <a:ext cx="10097543" cy="5277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31" name="TextBox 4"/>
          <p:cNvSpPr txBox="1"/>
          <p:nvPr/>
        </p:nvSpPr>
        <p:spPr>
          <a:xfrm>
            <a:off x="1114741" y="252566"/>
            <a:ext cx="3924718" cy="730096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CCH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1" y="1063262"/>
            <a:ext cx="8915399" cy="5598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31" name="TextBox 4"/>
          <p:cNvSpPr txBox="1"/>
          <p:nvPr/>
        </p:nvSpPr>
        <p:spPr>
          <a:xfrm>
            <a:off x="1114741" y="252566"/>
            <a:ext cx="3924718" cy="730096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CCH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51" y="1226332"/>
            <a:ext cx="11491097" cy="4982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31" name="TextBox 4"/>
          <p:cNvSpPr txBox="1"/>
          <p:nvPr/>
        </p:nvSpPr>
        <p:spPr>
          <a:xfrm>
            <a:off x="1114741" y="252566"/>
            <a:ext cx="3924718" cy="730096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CCH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40" y="1146986"/>
            <a:ext cx="8895216" cy="42265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85156" y="1500188"/>
            <a:ext cx="2987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KC </a:t>
            </a:r>
            <a:r>
              <a:rPr lang="en-US" dirty="0" err="1"/>
              <a:t>Ujungberung</a:t>
            </a:r>
            <a:r>
              <a:rPr lang="en-US" dirty="0"/>
              <a:t> 40100 </a:t>
            </a:r>
            <a:endParaRPr lang="en-US" dirty="0"/>
          </a:p>
          <a:p>
            <a:r>
              <a:rPr lang="en-US" dirty="0"/>
              <a:t>Rute Pos 5 dan Pos 6 </a:t>
            </a:r>
            <a:r>
              <a:rPr lang="en-US" dirty="0" err="1"/>
              <a:t>digabung</a:t>
            </a:r>
            <a:r>
              <a:rPr lang="en-US" dirty="0"/>
              <a:t>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16" name="TextBox 4"/>
          <p:cNvSpPr txBox="1"/>
          <p:nvPr/>
        </p:nvSpPr>
        <p:spPr>
          <a:xfrm>
            <a:off x="1275702" y="236219"/>
            <a:ext cx="2917941" cy="72771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IREGULARITAS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" y="1052280"/>
            <a:ext cx="6119025" cy="337808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045" y="3063338"/>
            <a:ext cx="6587740" cy="31147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2104" y="1286543"/>
            <a:ext cx="2987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KCU Bandung 40000 </a:t>
            </a:r>
            <a:endParaRPr lang="en-US" dirty="0"/>
          </a:p>
          <a:p>
            <a:r>
              <a:rPr lang="en-US" dirty="0"/>
              <a:t>Rute Pos 1 dan Pos 2 </a:t>
            </a:r>
            <a:r>
              <a:rPr lang="en-US" dirty="0" err="1"/>
              <a:t>digabung</a:t>
            </a:r>
            <a:r>
              <a:rPr lang="en-US" dirty="0"/>
              <a:t>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16" name="TextBox 4"/>
          <p:cNvSpPr txBox="1"/>
          <p:nvPr/>
        </p:nvSpPr>
        <p:spPr>
          <a:xfrm>
            <a:off x="1275702" y="236219"/>
            <a:ext cx="2917941" cy="72771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IREGULARITAS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4" y="1001394"/>
            <a:ext cx="6747473" cy="38706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275" y="3629026"/>
            <a:ext cx="6358751" cy="3011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6762" y="1262945"/>
            <a:ext cx="2987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KCU Bandung 40000 </a:t>
            </a:r>
            <a:endParaRPr lang="en-US" dirty="0"/>
          </a:p>
          <a:p>
            <a:r>
              <a:rPr lang="en-US" dirty="0"/>
              <a:t>Rute Pos 3 dan Pos 4 </a:t>
            </a:r>
            <a:r>
              <a:rPr lang="en-US" dirty="0" err="1"/>
              <a:t>digabung</a:t>
            </a:r>
            <a:r>
              <a:rPr lang="en-US" dirty="0"/>
              <a:t>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16" name="TextBox 4"/>
          <p:cNvSpPr txBox="1"/>
          <p:nvPr/>
        </p:nvSpPr>
        <p:spPr>
          <a:xfrm>
            <a:off x="1275702" y="236219"/>
            <a:ext cx="2917941" cy="72771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DASHBOARD IREGULARITAS</a:t>
            </a:r>
            <a:endParaRPr lang="en-US" sz="1400" b="1" baseline="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8600" y="1469470"/>
            <a:ext cx="118443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/ </a:t>
            </a:r>
            <a:r>
              <a:rPr lang="en-ID" dirty="0" err="1"/>
              <a:t>damak</a:t>
            </a:r>
            <a:r>
              <a:rPr lang="en-ID" dirty="0"/>
              <a:t> yang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rute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: 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</a:t>
            </a:r>
            <a:r>
              <a:rPr lang="en-ID" dirty="0" err="1"/>
              <a:t>menempuh</a:t>
            </a:r>
            <a:r>
              <a:rPr lang="en-ID" dirty="0"/>
              <a:t> </a:t>
            </a:r>
            <a:r>
              <a:rPr lang="en-ID" dirty="0" err="1"/>
              <a:t>rute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efisien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utilisasi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kapasitas</a:t>
            </a:r>
            <a:r>
              <a:rPr lang="en-ID" dirty="0"/>
              <a:t> </a:t>
            </a:r>
            <a:r>
              <a:rPr lang="en-ID" dirty="0" err="1"/>
              <a:t>angkut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optimal     </a:t>
            </a:r>
            <a:endParaRPr lang="en-ID" dirty="0"/>
          </a:p>
          <a:p>
            <a:endParaRPr lang="en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dirty="0"/>
              <a:t>Waktu </a:t>
            </a:r>
            <a:r>
              <a:rPr lang="en-ID" dirty="0" err="1"/>
              <a:t>tunggu</a:t>
            </a:r>
            <a:r>
              <a:rPr lang="en-ID" dirty="0"/>
              <a:t> KCU, KC, KCP &amp; AGP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lama </a:t>
            </a:r>
            <a:r>
              <a:rPr lang="en-ID" dirty="0" err="1"/>
              <a:t>dikarenakan</a:t>
            </a:r>
            <a:r>
              <a:rPr lang="en-ID" dirty="0"/>
              <a:t> </a:t>
            </a:r>
            <a:r>
              <a:rPr lang="en-ID" dirty="0" err="1"/>
              <a:t>rute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Panjang (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jemputan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)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dirty="0" err="1"/>
              <a:t>Keterlambatan</a:t>
            </a:r>
            <a:r>
              <a:rPr lang="en-ID" dirty="0"/>
              <a:t> pickup </a:t>
            </a:r>
            <a:r>
              <a:rPr lang="en-ID" dirty="0" err="1"/>
              <a:t>meningkat</a:t>
            </a:r>
            <a:r>
              <a:rPr lang="en-ID" dirty="0"/>
              <a:t>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kemacetan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kendala</a:t>
            </a:r>
            <a:r>
              <a:rPr lang="en-ID" dirty="0"/>
              <a:t> di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Pickup (Sebagian </a:t>
            </a:r>
            <a:r>
              <a:rPr lang="en-ID" dirty="0" err="1"/>
              <a:t>kiriman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terproses</a:t>
            </a:r>
            <a:r>
              <a:rPr lang="en-ID" dirty="0"/>
              <a:t> di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)</a:t>
            </a:r>
            <a:endParaRPr lang="en-ID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D" dirty="0"/>
          </a:p>
          <a:p>
            <a:pPr marL="342900" indent="-342900">
              <a:buAutoNum type="arabicPeriod"/>
            </a:pPr>
            <a:endParaRPr lang="en-ID" dirty="0"/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rute</a:t>
            </a:r>
            <a:r>
              <a:rPr lang="en-ID" dirty="0"/>
              <a:t>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meminimalisir</a:t>
            </a:r>
            <a:r>
              <a:rPr lang="en-ID" dirty="0"/>
              <a:t> </a:t>
            </a:r>
            <a:r>
              <a:rPr lang="en-ID" dirty="0" err="1"/>
              <a:t>keterlambatan</a:t>
            </a:r>
            <a:r>
              <a:rPr lang="en-ID" dirty="0"/>
              <a:t> </a:t>
            </a:r>
            <a:r>
              <a:rPr lang="en-ID" dirty="0" err="1"/>
              <a:t>kedatangan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Kantor SPP Bandung 40400, </a:t>
            </a:r>
            <a:r>
              <a:rPr lang="en-ID" dirty="0" err="1"/>
              <a:t>mohon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Kantor – </a:t>
            </a:r>
            <a:r>
              <a:rPr lang="en-ID" dirty="0" err="1"/>
              <a:t>kantor</a:t>
            </a:r>
            <a:r>
              <a:rPr lang="en-ID" dirty="0"/>
              <a:t> yang di Pick Up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Kiriman</a:t>
            </a:r>
            <a:r>
              <a:rPr lang="en-ID" dirty="0"/>
              <a:t> Surat &amp; Paket </a:t>
            </a:r>
            <a:r>
              <a:rPr lang="en-ID" dirty="0" err="1"/>
              <a:t>sudah</a:t>
            </a:r>
            <a:r>
              <a:rPr lang="en-ID" dirty="0"/>
              <a:t> di Bagging (</a:t>
            </a:r>
            <a:r>
              <a:rPr lang="en-ID" dirty="0" err="1"/>
              <a:t>tutup</a:t>
            </a:r>
            <a:r>
              <a:rPr lang="en-ID" dirty="0"/>
              <a:t> Kantong) </a:t>
            </a:r>
            <a:r>
              <a:rPr lang="en-ID" dirty="0" err="1"/>
              <a:t>sehingga</a:t>
            </a:r>
            <a:r>
              <a:rPr lang="en-ID" dirty="0"/>
              <a:t> Ketika </a:t>
            </a:r>
            <a:r>
              <a:rPr lang="en-ID" dirty="0" err="1"/>
              <a:t>angkutan</a:t>
            </a:r>
            <a:r>
              <a:rPr lang="en-ID" dirty="0"/>
              <a:t> Pick Up </a:t>
            </a:r>
            <a:r>
              <a:rPr lang="en-ID" dirty="0" err="1"/>
              <a:t>datang</a:t>
            </a:r>
            <a:r>
              <a:rPr lang="en-ID" dirty="0"/>
              <a:t>, </a:t>
            </a:r>
            <a:r>
              <a:rPr lang="en-ID" dirty="0" err="1"/>
              <a:t>kiriman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di Bagging </a:t>
            </a:r>
            <a:r>
              <a:rPr lang="en-ID" dirty="0" err="1"/>
              <a:t>tinggal</a:t>
            </a:r>
            <a:r>
              <a:rPr lang="en-ID" dirty="0"/>
              <a:t> di </a:t>
            </a:r>
            <a:r>
              <a:rPr lang="en-ID" dirty="0" err="1"/>
              <a:t>angkut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Pickup (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R7) Supaya </a:t>
            </a:r>
            <a:r>
              <a:rPr lang="en-ID" dirty="0" err="1"/>
              <a:t>kiriman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terproses</a:t>
            </a:r>
            <a:r>
              <a:rPr lang="en-ID" dirty="0"/>
              <a:t> pada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. </a:t>
            </a:r>
            <a:r>
              <a:rPr lang="en-ID" dirty="0" err="1"/>
              <a:t>Diharapkan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Pick Up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di SPP Bandung Maks jam 23.00 WIB.</a:t>
            </a:r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8745" y="217487"/>
            <a:ext cx="11954193" cy="765175"/>
            <a:chOff x="-12" y="-12"/>
            <a:chExt cx="19172" cy="1220"/>
          </a:xfrm>
        </p:grpSpPr>
        <p:sp>
          <p:nvSpPr>
            <p:cNvPr id="5" name="Rectangle 4"/>
            <p:cNvSpPr/>
            <p:nvPr/>
          </p:nvSpPr>
          <p:spPr>
            <a:xfrm>
              <a:off x="-12" y="-12"/>
              <a:ext cx="19172" cy="1220"/>
            </a:xfrm>
            <a:prstGeom prst="rect">
              <a:avLst/>
            </a:prstGeom>
            <a:solidFill>
              <a:srgbClr val="1F30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GB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id-ID" altLang="en-US" sz="110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1539" y="346"/>
              <a:ext cx="4156" cy="506"/>
              <a:chOff x="4011165" y="1048174"/>
              <a:chExt cx="3217665" cy="360010"/>
            </a:xfrm>
            <a:solidFill>
              <a:srgbClr val="1F305E"/>
            </a:solidFill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2152" y="1100244"/>
                <a:ext cx="360000" cy="255881"/>
              </a:xfrm>
              <a:prstGeom prst="rect">
                <a:avLst/>
              </a:prstGeom>
              <a:grpFill/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rcRect l="1531" t="1531" r="-1531" b="1531"/>
              <a:stretch>
                <a:fillRect/>
              </a:stretch>
            </p:blipFill>
            <p:spPr>
              <a:xfrm>
                <a:off x="4011165" y="1111414"/>
                <a:ext cx="717245" cy="233540"/>
              </a:xfrm>
              <a:prstGeom prst="roundRect">
                <a:avLst>
                  <a:gd name="adj" fmla="val 8594"/>
                </a:avLst>
              </a:prstGeom>
              <a:grpFill/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34962" y="1138184"/>
                <a:ext cx="331950" cy="180000"/>
              </a:xfrm>
              <a:prstGeom prst="rect">
                <a:avLst/>
              </a:prstGeom>
              <a:grpFill/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5" t="36260" r="27822" b="37494"/>
              <a:stretch>
                <a:fillRect/>
              </a:stretch>
            </p:blipFill>
            <p:spPr>
              <a:xfrm>
                <a:off x="6800259" y="1138184"/>
                <a:ext cx="428571" cy="180000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rcRect t="2135" b="2135"/>
              <a:stretch>
                <a:fillRect/>
              </a:stretch>
            </p:blipFill>
            <p:spPr>
              <a:xfrm>
                <a:off x="5838844" y="1048184"/>
                <a:ext cx="362772" cy="360000"/>
              </a:xfrm>
              <a:prstGeom prst="rect">
                <a:avLst/>
              </a:prstGeom>
              <a:grpFill/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5345513" y="1048174"/>
                <a:ext cx="360001" cy="359998"/>
                <a:chOff x="8466334" y="3648074"/>
                <a:chExt cx="587832" cy="749550"/>
              </a:xfrm>
              <a:grpFill/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345" t="2667"/>
                <a:stretch>
                  <a:fillRect/>
                </a:stretch>
              </p:blipFill>
              <p:spPr>
                <a:xfrm>
                  <a:off x="8485491" y="4209840"/>
                  <a:ext cx="549516" cy="187784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1908" b="24596"/>
                <a:stretch>
                  <a:fillRect/>
                </a:stretch>
              </p:blipFill>
              <p:spPr>
                <a:xfrm>
                  <a:off x="8466334" y="3648074"/>
                  <a:ext cx="587832" cy="539999"/>
                </a:xfrm>
                <a:prstGeom prst="rect">
                  <a:avLst/>
                </a:prstGeom>
                <a:grpFill/>
              </p:spPr>
            </p:pic>
          </p:grpSp>
        </p:grpSp>
        <p:pic>
          <p:nvPicPr>
            <p:cNvPr id="7" name="Picture 6" descr="PosIND_Reverse Color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3" y="99"/>
              <a:ext cx="1025" cy="1013"/>
            </a:xfrm>
            <a:prstGeom prst="rect">
              <a:avLst/>
            </a:prstGeom>
          </p:spPr>
        </p:pic>
      </p:grpSp>
      <p:sp>
        <p:nvSpPr>
          <p:cNvPr id="16" name="TextBox 4"/>
          <p:cNvSpPr txBox="1"/>
          <p:nvPr/>
        </p:nvSpPr>
        <p:spPr>
          <a:xfrm>
            <a:off x="1237971" y="254061"/>
            <a:ext cx="3335336" cy="72771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SPP BANDUNG 40400 2026</a:t>
            </a:r>
            <a:endParaRPr lang="en-US" altLang="en-US" sz="20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/>
            <a:endParaRPr lang="en-US" altLang="en-US" sz="1400" b="1" baseline="0" dirty="0">
              <a:solidFill>
                <a:srgbClr val="E3423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838200" y="30060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 Black" panose="020B0A04020102020204" charset="0"/>
                <a:cs typeface="Arial Black" panose="020B0A04020102020204" charset="0"/>
              </a:rPr>
              <a:t>TERIMA KASIH</a:t>
            </a:r>
            <a:endParaRPr lang="en-US" b="1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1157590" y="287105"/>
            <a:ext cx="3543935" cy="570230"/>
          </a:xfrm>
          <a:prstGeom prst="rect">
            <a:avLst/>
          </a:prstGeom>
          <a:solidFill>
            <a:srgbClr val="1F305E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en-GB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RUTE TERSIER </a:t>
            </a:r>
            <a:endParaRPr lang="en-US" sz="1400" b="1" dirty="0">
              <a:solidFill>
                <a:schemeClr val="bg1"/>
              </a:solidFill>
              <a:cs typeface="+mn-lt"/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cs typeface="+mn-lt"/>
              </a:rPr>
              <a:t>SPP </a:t>
            </a:r>
            <a:r>
              <a:rPr lang="en-US" sz="1400" b="1" baseline="0" dirty="0">
                <a:solidFill>
                  <a:schemeClr val="bg1"/>
                </a:solidFill>
                <a:cs typeface="+mn-lt"/>
              </a:rPr>
              <a:t>BANDUNG 40400 2026</a:t>
            </a:r>
            <a:endParaRPr lang="en-US" altLang="en-US" sz="1400" b="1" baseline="0" dirty="0">
              <a:solidFill>
                <a:schemeClr val="bg1"/>
              </a:solidFill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</Words>
  <Application>WPS Presentation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Arial Black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Suhendi</dc:creator>
  <cp:lastModifiedBy>POS</cp:lastModifiedBy>
  <cp:revision>11</cp:revision>
  <dcterms:created xsi:type="dcterms:W3CDTF">2026-04-28T13:12:00Z</dcterms:created>
  <dcterms:modified xsi:type="dcterms:W3CDTF">2026-07-03T08:03:01Z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D7103776DA9C4C0EB133E619EABF2A12_13</vt:lpwstr>
  </property>
  <property fmtid="{D5CDD505-2E9C-101B-9397-08002B2CF9AE}" pid="3" name="KSOProductBuildVer">
    <vt:lpwstr>1033-12.1.0.26880</vt:lpwstr>
  </property>
</Properties>
</file>